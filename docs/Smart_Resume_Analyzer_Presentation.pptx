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728655" cy="2103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SMART RESUME ANALYZER WITH AI-BASED FEEDBACK</a:t>
            </a:r>
          </a:p>
          <a:p>
            <a:pPr algn="ctr">
              <a:defRPr sz="1500">
                <a:solidFill>
                  <a:srgbClr val="38BDF8"/>
                </a:solidFill>
              </a:defRPr>
            </a:pPr>
            <a:r>
              <a:t>Deterministic ATS Screening Engine, Multi-Factor Scoring &amp; Actionable Optimization Feedback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Author / Candidate: subbaraju-cmd  |  Stack: Python Flask, Gunicorn &amp; Render Cloud  |  Academic Capstone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92608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33832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05409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Core Project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93008"/>
            <a:ext cx="292608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• Applicant-ATS Gap: </a:t>
            </a:r>
            <a:r>
              <a:rPr b="0">
                <a:solidFill>
                  <a:srgbClr val="1E293B"/>
                </a:solidFill>
              </a:rPr>
              <a:t>Over 75% of qualified resumes are filtered out prematurely by automated Applicant Tracking Systems.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Instant Transparency: </a:t>
            </a:r>
            <a:r>
              <a:rPr b="0">
                <a:solidFill>
                  <a:srgbClr val="1E293B"/>
                </a:solidFill>
              </a:rPr>
              <a:t>Provides job seekers with real-time, deterministic ATS compatibility screening before applying.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Zero Token Bleed: </a:t>
            </a:r>
            <a:r>
              <a:rPr b="0">
                <a:solidFill>
                  <a:srgbClr val="1E293B"/>
                </a:solidFill>
              </a:rPr>
              <a:t>Eliminates false-positive substring matches on technical keywords like C++, Node.js, and CI/CD.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Client-Side PDF: </a:t>
            </a:r>
            <a:r>
              <a:rPr b="0">
                <a:solidFill>
                  <a:srgbClr val="1E293B"/>
                </a:solidFill>
              </a:rPr>
              <a:t>Exports print-ready vector PDF audit reports directly in the browser with zero server overhead.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92608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2926080"/>
            <a:ext cx="33832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05409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Technical Innovations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493008"/>
            <a:ext cx="292608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• Lookaround Regex: </a:t>
            </a:r>
            <a:r>
              <a:rPr b="0">
                <a:solidFill>
                  <a:srgbClr val="1E293B"/>
                </a:solidFill>
              </a:rPr>
              <a:t>Custom token boundary regex (?&lt;![a-zA-Z0-9])kw(?![a-zA-Z0-9]) isolating programming terms.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Relevance Guardrails: </a:t>
            </a:r>
            <a:r>
              <a:rPr b="0">
                <a:solidFill>
                  <a:srgbClr val="1E293B"/>
                </a:solidFill>
              </a:rPr>
              <a:t>Mathematical caps ensuring 0% technical match resumes never receive a passing score.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Google X-Y-Z Formula: </a:t>
            </a:r>
            <a:r>
              <a:rPr b="0">
                <a:solidFill>
                  <a:srgbClr val="1E293B"/>
                </a:solidFill>
              </a:rPr>
              <a:t>Dynamic generation of high-impact achievement bullet points for missing role skills.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Modular Frontend: </a:t>
            </a:r>
            <a:r>
              <a:rPr b="0">
                <a:solidFill>
                  <a:srgbClr val="1E293B"/>
                </a:solidFill>
              </a:rPr>
              <a:t>Decoupled 10-component view architecture in templates/components/ for easy maintenance.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92608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2926080"/>
            <a:ext cx="338328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05409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Live Production Links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493008"/>
            <a:ext cx="292608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• GitHub Repository: </a:t>
            </a:r>
            <a:r>
              <a:rPr b="0">
                <a:solidFill>
                  <a:srgbClr val="1E293B"/>
                </a:solidFill>
              </a:rPr>
              <a:t>https://github.com/subbaraju-cmd/Smart-Resume-Analyzer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Live Render URL: </a:t>
            </a:r>
            <a:r>
              <a:rPr b="0">
                <a:solidFill>
                  <a:srgbClr val="1E293B"/>
                </a:solidFill>
              </a:rPr>
              <a:t>https://smart-resume-analyzer-utj7.onrender.com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Production Stack: </a:t>
            </a:r>
            <a:r>
              <a:rPr b="0">
                <a:solidFill>
                  <a:srgbClr val="1E293B"/>
                </a:solidFill>
              </a:rPr>
              <a:t>Python 3.14, Flask 3.1, Gunicorn 23.0 WSGI, pypdf 6.19, python-docx 1.2.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DevOps &amp; CI/CD: </a:t>
            </a:r>
            <a:r>
              <a:rPr b="0">
                <a:solidFill>
                  <a:srgbClr val="1E293B"/>
                </a:solidFill>
              </a:rPr>
              <a:t>Render Blueprint (render.yaml) with automatic deployment on git push to main branch.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6422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 Resume Analyzer | subbaraju-cmd | https://github.com/subbaraju-cmd/Smart-Resume-Analyzer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6422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PROBLEM STATEMENT &amp; SOLUTION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Recruitment Bottleneck &amp; Our Engineering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1208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96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Problem: Why Traditional Screeners 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4754880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172A"/>
                </a:solidFill>
              </a:defRPr>
            </a:pPr>
            <a:r>
              <a:t>• Opaque Automated Filtering: </a:t>
            </a:r>
            <a:r>
              <a:rPr b="0">
                <a:solidFill>
                  <a:srgbClr val="1E293B"/>
                </a:solidFill>
              </a:rPr>
              <a:t>Over 75% of resumes are filtered out before reaching a human recruiter due to missing exact keywords, non-standard section headers, or unparseable layout formatting.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Artificial Score Inflation Flaw: </a:t>
            </a:r>
            <a:r>
              <a:rPr b="0">
                <a:solidFill>
                  <a:srgbClr val="1E293B"/>
                </a:solidFill>
              </a:rPr>
              <a:t>Traditional online resume checkers naively award 65-75 points out of 100 simply for having an email address, telephone number, and generic headings, even when the candidate has 0% technical competence.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Regex Word Boundary Traps: </a:t>
            </a:r>
            <a:r>
              <a:rPr b="0">
                <a:solidFill>
                  <a:srgbClr val="1E293B"/>
                </a:solidFill>
              </a:rPr>
              <a:t>Standard regex \b tokenizers fail completely on engineering terms with symbols: \bC++\b fails because '+' is treated as a word boundary, while 'Java' falsely matches 'JavaScript'.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Superficial Black-Box Feedback: </a:t>
            </a:r>
            <a:r>
              <a:rPr b="0">
                <a:solidFill>
                  <a:srgbClr val="1E293B"/>
                </a:solidFill>
              </a:rPr>
              <a:t>Existing checkers display an arbitrary percentage score without telling the candidate which exact keywords are missing or how to formulate strong achievement statements.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996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Our Solution: Deterministic ATS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38528"/>
            <a:ext cx="4754880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172A"/>
                </a:solidFill>
              </a:defRPr>
            </a:pPr>
            <a:r>
              <a:t>• Deterministic &amp; Cost-Effective: </a:t>
            </a:r>
            <a:r>
              <a:rPr b="0">
                <a:solidFill>
                  <a:srgbClr val="1E293B"/>
                </a:solidFill>
              </a:rPr>
              <a:t>Zero reliance on unpredictable, hallucination-prone, and expensive LLM API calls. Delivers completely reproducible, sub-second execution speed on standard web servers.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Dual-Format Extraction Pipeline: </a:t>
            </a:r>
            <a:r>
              <a:rPr b="0">
                <a:solidFill>
                  <a:srgbClr val="1E293B"/>
                </a:solidFill>
              </a:rPr>
              <a:t>Robust text extraction supporting both PDF (via pypdf stream buffer) and DOCX (via python-docx paragraph/table XML parser) documents with UTF-8 normalization.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Guarded Multi-Factor Scoring: </a:t>
            </a:r>
            <a:r>
              <a:rPr b="0">
                <a:solidFill>
                  <a:srgbClr val="1E293B"/>
                </a:solidFill>
              </a:rPr>
              <a:t>Mathematical model combining role match percentage, technical depth, section taxonomy, and contact info, bounded by strict anti-inflation relevance guardrails.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Comprehensive Section Auditing: </a:t>
            </a:r>
            <a:r>
              <a:rPr b="0">
                <a:solidFill>
                  <a:srgbClr val="1E293B"/>
                </a:solidFill>
              </a:rPr>
              <a:t>Audits 5 essential sections (Contact, Summary, Education, Experience, Skills) and validates RFC-compliant email and telephone patterns.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Actionable Optimization Roadmap: </a:t>
            </a:r>
            <a:r>
              <a:rPr b="0">
                <a:solidFill>
                  <a:srgbClr val="1E293B"/>
                </a:solidFill>
              </a:rPr>
              <a:t>Provides concrete phrasing substitutions and applies Google's X-Y-Z bullet formula for missing role competencies.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6422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 Resume Analyzer | subbaraju-cmd | https://github.com/subbaraju-cmd/Smart-Resume-Analyzer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36422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ALGORITHMIC INNOVATIONS &amp; EMPIRICAL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Core Technical Innovations: Regex Engine &amp; Guardrail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0817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Lookaround Boundary Regex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47088"/>
            <a:ext cx="47548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172A"/>
                </a:solidFill>
              </a:defRPr>
            </a:pPr>
            <a:r>
              <a:t>Solving Programming Language Token Bleed:</a:t>
            </a:r>
          </a:p>
          <a:p>
            <a:pPr>
              <a:defRPr b="1" sz="1050">
                <a:solidFill>
                  <a:srgbClr val="4338CA"/>
                </a:solidFill>
              </a:defRPr>
            </a:pPr>
            <a:r>
              <a:t>pattern = rf"(?&lt;![a-zA-Z0-9]){re.escape(keyword)}(?![a-zA-Z0-9])"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Eliminates false substring matches: 'Java' never matches inside 'JavaScript'; 'C' never matches 'CSS' or 'CI/CD'.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Accurately captures punctuated engineering tokens: C++, C#, .NET, and Node.js.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0817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Anti-Inflation Scoring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47088"/>
            <a:ext cx="47548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172A"/>
                </a:solidFill>
              </a:defRPr>
            </a:pPr>
            <a:r>
              <a:t>Mathematical Model &amp; Guardrail Formula:</a:t>
            </a:r>
          </a:p>
          <a:p>
            <a:pPr>
              <a:defRPr b="1" sz="1000">
                <a:solidFill>
                  <a:srgbClr val="059669"/>
                </a:solidFill>
              </a:defRPr>
            </a:pPr>
            <a:r>
              <a:t>Score = (RoleMatch × 0.40) + (TechDepth × 0.25) + (SectionArch × 0.25) + (Contact × 0.10)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Hard Cap 1: If Role Match = 0% ➜ Final score is hard-capped at ≤ 25 / 100 (Unqualified resumes never pass).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Hard Cap 2 &amp; 3: Match &lt; 25% capped at ≤ 40/100; Match &lt; 50% capped at ≤ 55/100. Passing scores require real skills.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3474720"/>
          <a:ext cx="1072865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828800"/>
                <a:gridCol w="3322015"/>
              </a:tblGrid>
              <a:tr h="5303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Candidate Test Profile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 Job Role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Naive ATS Score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Our Engine Score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Validation Outcome &amp; Recruiter Impact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Personal Trainer Resume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Web Developer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</a:defRPr>
                      </a:pPr>
                      <a:r>
                        <a:t>65 / 100 (False Pass)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24 / 100 (Guarded)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Relevance guardrail correctly rejects candidate with 0% role match.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Junior Python Developer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Python Developer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68 / 100 (Uninformative)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68 / 100 (Actionable)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Identifies 57.1% role match; highlights missing Docker &amp; Celery skills.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Senior AI Engineer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AI Engineer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88 / 100 (No Syntax Check)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91 / 100 (Verified)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High match validates PyTorch, TensorFlow, NLP, and impact action verbs.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Scanned / Image Resume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Data Analyst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</a:defRPr>
                      </a:pPr>
                      <a:r>
                        <a:t>40 / 100 (Silent Fail)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D97706"/>
                          </a:solidFill>
                        </a:defRPr>
                      </a:pPr>
                      <a:r>
                        <a:t>Explicit Red Alert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Catches zero-text extraction and returns actionable on-screen warning.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6422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 Resume Analyzer | subbaraju-cmd | https://github.com/subbaraju-cmd/Smart-Resume-Analyzer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6422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DECOUPLED ENGINEERING &amp; COMPONENT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 &amp; Modular File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The application follows a strictly decoupled Model-View-Controller (MVC) architecture with isolated core/ processing modules and 10 standalone templates/components/ views for feature-friendly maintainability: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4389120"/>
                <a:gridCol w="2316175"/>
              </a:tblGrid>
              <a:tr h="61395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Module / File Path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Architectural Layer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Technical Responsibility &amp; Logic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Underlying Technology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core/parser.py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4338CA"/>
                          </a:solidFill>
                        </a:defRPr>
                      </a:pPr>
                      <a:r>
                        <a:t>Extraction Layer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Multi-format document parsing extracting clean UTF-8 text streams from PDF and DOCX files without third-party API dependencies.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pypdf, python-docx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core/section_analyzer.py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4338CA"/>
                          </a:solidFill>
                        </a:defRPr>
                      </a:pPr>
                      <a:r>
                        <a:t>Audit Layer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Validates RFC-compliant email syntax, telephone numbers, LinkedIn/GitHub URLs, and audits 5 essential resume section headers.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Python re, String Sanitizer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core/ats_scorer.py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4338CA"/>
                          </a:solidFill>
                        </a:defRPr>
                      </a:pPr>
                      <a:r>
                        <a:t>Scoring Layer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Executes lookaround regex matching across 50+ master skills, computes role match %, audits impact verbs, and enforces guardrails.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Lookaround Regex, JSON Taxonomy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core/feedback_generator.py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4338CA"/>
                          </a:solidFill>
                        </a:defRPr>
                      </a:pPr>
                      <a:r>
                        <a:t>Recommendation Layer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Generates Google X-Y-Z bullet points, weak vs. strong phrasing transformations, and tailored suggestions for missing competencies.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Rule-Based Heuristics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  <a:tr h="613954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templates/components/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284C7"/>
                          </a:solidFill>
                        </a:defRPr>
                      </a:pPr>
                      <a:r>
                        <a:t>Presentation Layer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10 isolated HTML component views (metrics, keyword badges, section checks, Google X-Y-Z, phrasing comparison, PDF export button).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Jinja2, HTML5, CSS3 Grid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app.py &amp; Procfile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Gateway &amp; DevOps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Flask web entrypoint, route handling (/ and /upload), input validation, secure_filename sanitization, and Gunicorn WSGI startup.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Flask 3.1, Gunicorn 23.0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6422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 Resume Analyzer | subbaraju-cmd | https://github.com/subbaraju-cmd/Smart-Resume-Analyzer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6422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CANDIDATE OPTIMIZATION &amp; GOOGLE X-Y-Z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Actionable Feedback Engine &amp; Phrasing Transformation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0515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THE GOOGLE X-Y-Z BULLET POINT FORMULA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"Accomplished [X], as measured by [Y], by doing [Z]" — Replaces passive job descriptions with high-impact, quantified achievement statements.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51460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286000"/>
                <a:gridCol w="5425135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Weak / Passive Phrasing (Before)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Identified ATS Flaw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High-Impact Transformation (After - Google X-Y-Z)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</a:defRPr>
                      </a:pPr>
                      <a:r>
                        <a:t>Worked on web development and fixed bugs in the system.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Passive verb ('worked'), no measurable metrics, tech stack omitted.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Engineered responsive full-stack features using React and Flask, resolving 45+ critical bugs and improving system uptime by 22%.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</a:defRPr>
                      </a:pPr>
                      <a:r>
                        <a:t>Responsible for data analysis and preparing reports.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Duty-oriented description, no scale or business impact indicated.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Automated daily ETL pipelines using Python and Pandas, analyzing 500K+ records and reducing reporting turnaround from 6 hours to 45 mins.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</a:defRPr>
                      </a:pPr>
                      <a:r>
                        <a:t>Assisted team in deploying machine learning models.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Minimizes contribution ('assisted'), zero deployment specifications.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Architected and containerized PyTorch NLP classification models with Docker, boosting inference throughput by 3.5x in production.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</a:defRPr>
                      </a:pPr>
                      <a:r>
                        <a:t>Helped migrate company databases to the cloud.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Vague action verb ('helped'), missing architecture and efficiency data.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Orchestrated seamless PostgreSQL migration to AWS RDS, achieving 99.99% availability and cutting annual infrastructure costs by $18,000.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6422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 Resume Analyzer | subbaraju-cmd | https://github.com/subbaraju-cmd/Smart-Resume-Analyzer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6422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CLOUD DEVOPS ARCHITECTURE &amp; PROJECT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Production Deployment, Specifications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0817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Live Production Hosting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47088"/>
            <a:ext cx="47548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Deployed &amp; Verified Live on Render Cloud: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Live URL: https://smart-resume-analyzer-utj7.onrender.com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Continuous Deployment: Automated build triggered on git push to main.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Health Status: HTTP 200 OK verified across upload &amp; analysis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0817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Future Technical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47088"/>
            <a:ext cx="47548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Planned Engineering Enhancements: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OCR Engine Integration: Tesseract OCR for scanned image PDFs and multi-column visual resumes.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Semantic Embeddings: Lightweight on-device MiniLM embeddings for contextual synonym matching.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Job Description Auditing: Real-time parsing of custom recruiter job descriptions.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3108960"/>
          <a:ext cx="1072865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00400"/>
                <a:gridCol w="4602175"/>
              </a:tblGrid>
              <a:tr h="60350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Production Metric / Component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Live Configuration &amp; Value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Operational Significance &amp; Quality Guarantee</a:t>
                      </a:r>
                    </a:p>
                  </a:txBody>
                  <a:tcPr anchor="ctr" marL="109728" marR="109728" marT="73152" marB="73152">
                    <a:solidFill>
                      <a:srgbClr val="0F172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Hosting Platform &amp; Region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Render Cloud Web Service (Oregon)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24/7 cloud container with automatic TLS certificates and Cloudflare CDN.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WSGI Production Server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Gunicorn 23.0.0 (web: gunicorn app:app)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Multi-worker process management with dynamic $PORT binding on Linux.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Version Control &amp; CI/CD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GitHub subbaraju-cmd/Smart-Resume-Analyzer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Automated deployment webhook on git push to main branch with render.yaml.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Vector PDF Report Export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html2pdf.js + static/css/print.css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Client-side vector rendering; zero server overhead or memory leaks.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6422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 Resume Analyzer | subbaraju-cmd | https://github.com/subbaraju-cmd/Smart-Resume-Analyzer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6422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